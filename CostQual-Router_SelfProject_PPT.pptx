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B8A6"/>
                </a:solidFill>
                <a:latin typeface="Calibri"/>
              </a:rPr>
              <a:t>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CostQual-Router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9D6E3"/>
                </a:solidFill>
                <a:latin typeface="Calibri"/>
              </a:rPr>
              <a:t>Adaptive Semantic Caching &amp; Complexity-Based Model Routing
for Cost-Efficient LLM Serving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6060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  <a:latin typeface="Calibri"/>
              </a:rPr>
              <a:t>TEAM MEMBERS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3383280" cy="1280160"/>
          </a:xfrm>
          <a:prstGeom prst="roundRect">
            <a:avLst/>
          </a:prstGeom>
          <a:solidFill>
            <a:srgbClr val="152A4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3493008"/>
            <a:ext cx="685800" cy="6858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015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Syed Yaseenuddin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9136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6E3"/>
                </a:solidFill>
                <a:latin typeface="Calibri"/>
              </a:rPr>
              <a:t>Roll No: 160923750005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200400"/>
            <a:ext cx="3383280" cy="1280160"/>
          </a:xfrm>
          <a:prstGeom prst="roundRect">
            <a:avLst/>
          </a:prstGeom>
          <a:solidFill>
            <a:srgbClr val="152A4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3493008"/>
            <a:ext cx="685800" cy="6858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4015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Mir Sufiyan Ali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9136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6E3"/>
                </a:solidFill>
                <a:latin typeface="Calibri"/>
              </a:rPr>
              <a:t>Roll No: 160923750009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200400"/>
            <a:ext cx="3383280" cy="1280160"/>
          </a:xfrm>
          <a:prstGeom prst="roundRect">
            <a:avLst/>
          </a:prstGeom>
          <a:solidFill>
            <a:srgbClr val="152A4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38160" y="3493008"/>
            <a:ext cx="685800" cy="6858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4015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Mohd Mujahid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9136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6E3"/>
                </a:solidFill>
                <a:latin typeface="Calibri"/>
              </a:rPr>
              <a:t>Roll No: 160923750020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09160"/>
            <a:ext cx="5166360" cy="9144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300" b="1">
                <a:solidFill>
                  <a:srgbClr val="E2E8F0"/>
                </a:solidFill>
              </a:rPr>
              <a:t>DEPARTMENT</a:t>
            </a:r>
          </a:p>
          <a:p>
            <a:r>
              <a:rPr sz="1800" b="1">
                <a:solidFill>
                  <a:srgbClr val="FFFFFF"/>
                </a:solidFill>
              </a:rPr>
              <a:t>CSD -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09160"/>
            <a:ext cx="5166360" cy="9144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300" b="1">
                <a:solidFill>
                  <a:srgbClr val="E2E8F0"/>
                </a:solidFill>
              </a:rPr>
              <a:t>GUIDE</a:t>
            </a:r>
          </a:p>
          <a:p>
            <a:r>
              <a:rPr sz="1800" b="1">
                <a:solidFill>
                  <a:srgbClr val="FFFFFF"/>
                </a:solidFill>
              </a:rPr>
              <a:t>Feroz Amer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Background &amp; Importance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94960" cy="210312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1828800"/>
            <a:ext cx="685800" cy="6858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9222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AI Is Everywhere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31136"/>
            <a:ext cx="4114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LLMs now power chat, search, and support across every industry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394960" cy="210312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3368" y="1828800"/>
            <a:ext cx="685800" cy="6858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79222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One-Size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231136"/>
            <a:ext cx="4114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Most systems send every query to the same large model, regardless of need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39"/>
            <a:ext cx="5394960" cy="210312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E1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60519"/>
            <a:ext cx="685800" cy="685800"/>
          </a:xfrm>
          <a:prstGeom prst="ellipse">
            <a:avLst/>
          </a:prstGeom>
          <a:solidFill>
            <a:srgbClr val="E1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23943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Rising Inference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62855"/>
            <a:ext cx="4114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Serving cost scales directly with traffic — a growing concern at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977639"/>
            <a:ext cx="5394960" cy="210312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3368" y="4160519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123943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The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562855"/>
            <a:ext cx="4114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Most queries are simple or repeated — real room to optimize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CostQual-Router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What's Broken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51760" cy="3108960"/>
          </a:xfrm>
          <a:prstGeom prst="roundRect">
            <a:avLst/>
          </a:prstGeom>
          <a:solidFill>
            <a:srgbClr val="F4F7F9"/>
          </a:solidFill>
          <a:ln w="19050">
            <a:solidFill>
              <a:srgbClr val="E1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2121408"/>
            <a:ext cx="822960" cy="822960"/>
          </a:xfrm>
          <a:prstGeom prst="ellipse">
            <a:avLst/>
          </a:prstGeom>
          <a:solidFill>
            <a:srgbClr val="E1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821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1F3A"/>
                </a:solidFill>
                <a:latin typeface="Calibri"/>
              </a:rPr>
              <a:t>No Effort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B5563"/>
                </a:solidFill>
                <a:latin typeface="Calibri"/>
              </a:rPr>
              <a:t>Trivial and complex queries treated identically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651760" cy="3108960"/>
          </a:xfrm>
          <a:prstGeom prst="roundRect">
            <a:avLst/>
          </a:prstGeom>
          <a:solidFill>
            <a:srgbClr val="F4F7F9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2121408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1821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1F3A"/>
                </a:solidFill>
                <a:latin typeface="Calibri"/>
              </a:rPr>
              <a:t>No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49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B5563"/>
                </a:solidFill>
                <a:latin typeface="Calibri"/>
              </a:rPr>
              <a:t>Repeated questions recomputed from scratch every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651760" cy="3108960"/>
          </a:xfrm>
          <a:prstGeom prst="roundRect">
            <a:avLst/>
          </a:prstGeom>
          <a:solidFill>
            <a:srgbClr val="F4F7F9"/>
          </a:solidFill>
          <a:ln w="190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2121408"/>
            <a:ext cx="822960" cy="8229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1821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1F3A"/>
                </a:solidFill>
                <a:latin typeface="Calibri"/>
              </a:rPr>
              <a:t>High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B5563"/>
                </a:solidFill>
                <a:latin typeface="Calibri"/>
              </a:rPr>
              <a:t>Every query pays top-tier compute price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828800"/>
            <a:ext cx="2651760" cy="3108960"/>
          </a:xfrm>
          <a:prstGeom prst="roundRect">
            <a:avLst/>
          </a:prstGeom>
          <a:solidFill>
            <a:srgbClr val="F4F7F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66960" y="2121408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1821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1F3A"/>
                </a:solidFill>
                <a:latin typeface="Calibri"/>
              </a:rPr>
              <a:t>High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749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B5563"/>
                </a:solidFill>
                <a:latin typeface="Calibri"/>
              </a:rPr>
              <a:t>Large models are slow even for simple 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0B1F3A"/>
                </a:solidFill>
                <a:latin typeface="Calibri"/>
              </a:rPr>
              <a:t>Need: a smarter serving layer that matches cost to actual query difficulty.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CostQual-Router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B55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Current Methods &amp; Their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120640" cy="44805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Single Model,
Every Query</a:t>
            </a:r>
          </a:p>
          <a:p>
            <a:pPr algn="ctr">
              <a:spcBef>
                <a:spcPts val="1400"/>
              </a:spcBef>
            </a:pPr>
            <a:r>
              <a:rPr sz="1600">
                <a:solidFill>
                  <a:srgbClr val="C9D6E3"/>
                </a:solidFill>
              </a:rPr>
              <a:t>Naive baseline: one large model handles
every request, simple or complex alike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737360"/>
            <a:ext cx="2194560" cy="685800"/>
          </a:xfrm>
          <a:prstGeom prst="roundRect">
            <a:avLst>
              <a:gd name="adj" fmla="val 50000"/>
            </a:avLst>
          </a:prstGeom>
          <a:solidFill>
            <a:srgbClr val="E1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Expensive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783080"/>
            <a:ext cx="3291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Top-tier compute cost on every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834640"/>
            <a:ext cx="2194560" cy="6858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880360"/>
            <a:ext cx="3291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Large-model latency even for trivial 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931920"/>
            <a:ext cx="2194560" cy="685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No Reuse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977640"/>
            <a:ext cx="3291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Identical questions recomputed endlessly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5029200"/>
            <a:ext cx="2194560" cy="6858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Not Scalable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074920"/>
            <a:ext cx="3291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Cost grows linearly, unchecked, with 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CostQual-Router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Our Solution &amp; Its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2286000"/>
          </a:xfrm>
          <a:prstGeom prst="roundRect">
            <a:avLst/>
          </a:prstGeom>
          <a:solidFill>
            <a:srgbClr val="F4F7F9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874519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7451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libri"/>
              </a:rPr>
              <a:t>Semantic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3774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Instantly reuse answers to meaning-equivalent past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394960" cy="2286000"/>
          </a:xfrm>
          <a:prstGeom prst="roundRect">
            <a:avLst/>
          </a:prstGeom>
          <a:solidFill>
            <a:srgbClr val="F4F7F9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1874519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87451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libri"/>
              </a:rPr>
              <a:t>Complexity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Sends each new query to the cheapest capable model tier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97680"/>
            <a:ext cx="2514600" cy="1554480"/>
          </a:xfrm>
          <a:prstGeom prst="roundRect">
            <a:avLst/>
          </a:prstGeom>
          <a:solidFill>
            <a:srgbClr val="E1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/>
              <a:t>💰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Lower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297680"/>
            <a:ext cx="2514600" cy="1554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/>
              <a:t>⚡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Faster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2514600" cy="1554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/>
              <a:t>📈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Scalable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4297680"/>
            <a:ext cx="2514600" cy="1554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/>
              <a:t>🔒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Private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CostQual-Router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B55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Key Goals of This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20440" cy="164592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1783080"/>
            <a:ext cx="685800" cy="6858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46504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Cut Serving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85416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Reduce inference spend via smart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00200"/>
            <a:ext cx="3520440" cy="164592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98848" y="1783080"/>
            <a:ext cx="685800" cy="6858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746504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Reduce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185416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Answer repeated/simple queries near-instantly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520440" cy="164592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E1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47888" y="1783080"/>
            <a:ext cx="685800" cy="685800"/>
          </a:xfrm>
          <a:prstGeom prst="ellipse">
            <a:avLst/>
          </a:prstGeom>
          <a:solidFill>
            <a:srgbClr val="E1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746504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Preserve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85416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No accuracy trade-off from cost savings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3520440" cy="164592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3657600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621024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Stay Self-Hosted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059936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Zero paid third-party API dependency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474720"/>
            <a:ext cx="3520440" cy="164592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98848" y="3657600"/>
            <a:ext cx="685800" cy="6858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621024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Enable 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059936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Live visibility into cost, cache, and quality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474720"/>
            <a:ext cx="3520440" cy="164592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7888" y="3657600"/>
            <a:ext cx="685800" cy="6858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621024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Learn Over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059936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Router improves automatically from real usage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CostQual-Router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SCOPE OF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Applications &amp; 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APPLICATIONS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394960" cy="64008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222C"/>
                </a:solidFill>
              </a:rPr>
              <a:t>Customer support chatbots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5394960" cy="64008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222C"/>
                </a:solidFill>
              </a:rPr>
              <a:t>Internal knowledge-base Q&amp;A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5394960" cy="64008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222C"/>
                </a:solidFill>
              </a:rPr>
              <a:t>FAQ / helpdesk automation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51960"/>
            <a:ext cx="5394960" cy="64008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222C"/>
                </a:solidFill>
              </a:rPr>
              <a:t>Any high-volume LLM-backed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FUTURE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394960" cy="64008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Multi-language query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5394960" cy="64008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Domain-specific fine-tuned tiers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74720"/>
            <a:ext cx="5394960" cy="64008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Multi-tenant SaaS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251960"/>
            <a:ext cx="5394960" cy="64008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Auto-scaling model tiers on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CostQual-Router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B55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Workflow &amp;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5147" y="2103120"/>
            <a:ext cx="1600200" cy="11887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User
Query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95347" y="2560320"/>
            <a:ext cx="320040" cy="27432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15387" y="2103120"/>
            <a:ext cx="1600200" cy="1188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API
Gateway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15587" y="2560320"/>
            <a:ext cx="320040" cy="27432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5627" y="2103120"/>
            <a:ext cx="1600200" cy="1188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Cache
Check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35827" y="2560320"/>
            <a:ext cx="320040" cy="27432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55867" y="2103120"/>
            <a:ext cx="1600200" cy="1188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Router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56067" y="2560320"/>
            <a:ext cx="320040" cy="27432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76107" y="2103120"/>
            <a:ext cx="1600200" cy="1188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Model Tier
(S / M / L)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76307" y="2560320"/>
            <a:ext cx="320040" cy="27432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96347" y="2103120"/>
            <a:ext cx="1600200" cy="11887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Log +
Return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998567" y="3291840"/>
            <a:ext cx="274320" cy="457200"/>
          </a:xfrm>
          <a:prstGeom prst="downArrow">
            <a:avLst/>
          </a:prstGeom>
          <a:solidFill>
            <a:srgbClr val="E1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86987" y="4069080"/>
            <a:ext cx="2697480" cy="822960"/>
          </a:xfrm>
          <a:prstGeom prst="roundRect">
            <a:avLst/>
          </a:prstGeom>
          <a:solidFill>
            <a:srgbClr val="E1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Cache Hit → Instant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4B5563"/>
                </a:solidFill>
                <a:latin typeface="Calibri"/>
              </a:rPr>
              <a:t>Cache miss only → router decides tier → model answers → result cached + logged for next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CostQual-Router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Languages, Tools &amp; Frameworks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429000" cy="11887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Ollama</a:t>
            </a:r>
          </a:p>
          <a:p>
            <a:r>
              <a:rPr sz="1300">
                <a:solidFill>
                  <a:srgbClr val="E2E8F0"/>
                </a:solidFill>
              </a:rPr>
              <a:t>Inference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554480"/>
            <a:ext cx="3429000" cy="11887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Sentence-Transformers</a:t>
            </a:r>
          </a:p>
          <a:p>
            <a:r>
              <a:rPr sz="1300">
                <a:solidFill>
                  <a:srgbClr val="E2E8F0"/>
                </a:solidFill>
              </a:rPr>
              <a:t>Embeddings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554480"/>
            <a:ext cx="3429000" cy="11887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Qdrant</a:t>
            </a:r>
          </a:p>
          <a:p>
            <a:r>
              <a:rPr sz="1300">
                <a:solidFill>
                  <a:srgbClr val="E2E8F0"/>
                </a:solidFill>
              </a:rPr>
              <a:t>Vector 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3429000" cy="1188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PostgreSQL</a:t>
            </a:r>
          </a:p>
          <a:p>
            <a:r>
              <a:rPr sz="1300">
                <a:solidFill>
                  <a:srgbClr val="E2E8F0"/>
                </a:solidFill>
              </a:rPr>
              <a:t>Structured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926080"/>
            <a:ext cx="3429000" cy="1188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Scikit-learn</a:t>
            </a:r>
          </a:p>
          <a:p>
            <a:r>
              <a:rPr sz="1300">
                <a:solidFill>
                  <a:srgbClr val="E2E8F0"/>
                </a:solidFill>
              </a:rPr>
              <a:t>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926080"/>
            <a:ext cx="3429000" cy="1188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BERTScore</a:t>
            </a:r>
          </a:p>
          <a:p>
            <a:r>
              <a:rPr sz="1300">
                <a:solidFill>
                  <a:srgbClr val="E2E8F0"/>
                </a:solidFill>
              </a:rPr>
              <a:t>Quality 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3429000" cy="1188720"/>
          </a:xfrm>
          <a:prstGeom prst="roundRect">
            <a:avLst/>
          </a:prstGeom>
          <a:solidFill>
            <a:srgbClr val="E1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FastAPI</a:t>
            </a:r>
          </a:p>
          <a:p>
            <a:r>
              <a:rPr sz="1300">
                <a:solidFill>
                  <a:srgbClr val="E2E8F0"/>
                </a:solidFill>
              </a:rPr>
              <a:t>API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297680"/>
            <a:ext cx="3429000" cy="1188720"/>
          </a:xfrm>
          <a:prstGeom prst="roundRect">
            <a:avLst/>
          </a:prstGeom>
          <a:solidFill>
            <a:srgbClr val="E1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Prometheus + Grafana</a:t>
            </a:r>
          </a:p>
          <a:p>
            <a:r>
              <a:rPr sz="1300">
                <a:solidFill>
                  <a:srgbClr val="E2E8F0"/>
                </a:solidFill>
              </a:rPr>
              <a:t>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4297680"/>
            <a:ext cx="3429000" cy="1188720"/>
          </a:xfrm>
          <a:prstGeom prst="roundRect">
            <a:avLst/>
          </a:prstGeom>
          <a:solidFill>
            <a:srgbClr val="E1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Docker + GitHub Actions</a:t>
            </a:r>
          </a:p>
          <a:p>
            <a:r>
              <a:rPr sz="1300">
                <a:solidFill>
                  <a:srgbClr val="E2E8F0"/>
                </a:solidFill>
              </a:rP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CostQual-Router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B55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Results &amp; Key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20440" cy="201168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0D9488"/>
                </a:solidFill>
              </a:rPr>
              <a:t>35%</a:t>
            </a:r>
          </a:p>
          <a:p>
            <a:pPr algn="ctr"/>
            <a:r>
              <a:rPr sz="1500">
                <a:solidFill>
                  <a:srgbClr val="4B5563"/>
                </a:solidFill>
              </a:rPr>
              <a:t>Lower Serving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520440" cy="201168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0D9488"/>
                </a:solidFill>
              </a:rPr>
              <a:t>23%</a:t>
            </a:r>
          </a:p>
          <a:p>
            <a:pPr algn="ctr"/>
            <a:r>
              <a:rPr sz="1500">
                <a:solidFill>
                  <a:srgbClr val="4B5563"/>
                </a:solidFill>
              </a:rPr>
              <a:t>Semantic Cache Hit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520440" cy="2011680"/>
          </a:xfrm>
          <a:prstGeom prst="roundRect">
            <a:avLst/>
          </a:prstGeom>
          <a:solidFill>
            <a:srgbClr val="F4F7F9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0D9488"/>
                </a:solidFill>
              </a:rPr>
              <a:t>3-Tier</a:t>
            </a:r>
          </a:p>
          <a:p>
            <a:pPr algn="ctr"/>
            <a:r>
              <a:rPr sz="1500">
                <a:solidFill>
                  <a:srgbClr val="4B5563"/>
                </a:solidFill>
              </a:rPr>
              <a:t>Adaptive Model Routing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15137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22C"/>
                </a:solidFill>
                <a:latin typeface="Calibri"/>
              </a:rPr>
              <a:t>Faster responses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411480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15137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22C"/>
                </a:solidFill>
                <a:latin typeface="Calibri"/>
              </a:rPr>
              <a:t>Preserved answer quality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02920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06577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22C"/>
                </a:solidFill>
                <a:latin typeface="Calibri"/>
              </a:rPr>
              <a:t>Fully self-hosted, zero API cost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502920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06577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22C"/>
                </a:solidFill>
                <a:latin typeface="Calibri"/>
              </a:rPr>
              <a:t>Reproducible &amp; auditable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CostQual-Router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B55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PROJECT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Phase-Wise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9991" y="2103120"/>
            <a:ext cx="1536192" cy="2560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28600"/>
          <a:lstStyle/>
          <a:p>
            <a:pPr algn="ctr"/>
            <a:r>
              <a:rPr sz="2400" b="1">
                <a:solidFill>
                  <a:srgbClr val="F59E0B"/>
                </a:solidFill>
              </a:rPr>
              <a:t>M1</a:t>
            </a:r>
          </a:p>
          <a:p>
            <a:pPr algn="ctr">
              <a:spcBef>
                <a:spcPts val="1000"/>
              </a:spcBef>
            </a:pPr>
            <a:r>
              <a:rPr sz="1450" b="1">
                <a:solidFill>
                  <a:srgbClr val="FFFFFF"/>
                </a:solidFill>
              </a:rPr>
              <a:t>Infra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35911" y="2103120"/>
            <a:ext cx="1536192" cy="25603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28600"/>
          <a:lstStyle/>
          <a:p>
            <a:pPr algn="ctr"/>
            <a:r>
              <a:rPr sz="2400" b="1">
                <a:solidFill>
                  <a:srgbClr val="F59E0B"/>
                </a:solidFill>
              </a:rPr>
              <a:t>M2</a:t>
            </a:r>
          </a:p>
          <a:p>
            <a:pPr algn="ctr">
              <a:spcBef>
                <a:spcPts val="1000"/>
              </a:spcBef>
            </a:pPr>
            <a:r>
              <a:rPr sz="1450" b="1">
                <a:solidFill>
                  <a:srgbClr val="FFFFFF"/>
                </a:solidFill>
              </a:rPr>
              <a:t>Persistent Cache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81831" y="2103120"/>
            <a:ext cx="1536192" cy="2560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28600"/>
          <a:lstStyle/>
          <a:p>
            <a:pPr algn="ctr"/>
            <a:r>
              <a:rPr sz="2400" b="1">
                <a:solidFill>
                  <a:srgbClr val="F59E0B"/>
                </a:solidFill>
              </a:rPr>
              <a:t>M3</a:t>
            </a:r>
          </a:p>
          <a:p>
            <a:pPr algn="ctr">
              <a:spcBef>
                <a:spcPts val="1000"/>
              </a:spcBef>
            </a:pPr>
            <a:r>
              <a:rPr sz="1450" b="1">
                <a:solidFill>
                  <a:srgbClr val="FFFFFF"/>
                </a:solidFill>
              </a:rPr>
              <a:t>Real Tiers +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27751" y="2103120"/>
            <a:ext cx="1536192" cy="25603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28600"/>
          <a:lstStyle/>
          <a:p>
            <a:pPr algn="ctr"/>
            <a:r>
              <a:rPr sz="2400" b="1">
                <a:solidFill>
                  <a:srgbClr val="F59E0B"/>
                </a:solidFill>
              </a:rPr>
              <a:t>M4</a:t>
            </a:r>
          </a:p>
          <a:p>
            <a:pPr algn="ctr">
              <a:spcBef>
                <a:spcPts val="1000"/>
              </a:spcBef>
            </a:pPr>
            <a:r>
              <a:rPr sz="1450" b="1">
                <a:solidFill>
                  <a:srgbClr val="FFFFFF"/>
                </a:solidFill>
              </a:rPr>
              <a:t>Learned 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73671" y="2103120"/>
            <a:ext cx="1536192" cy="2560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28600"/>
          <a:lstStyle/>
          <a:p>
            <a:pPr algn="ctr"/>
            <a:r>
              <a:rPr sz="2400" b="1">
                <a:solidFill>
                  <a:srgbClr val="F59E0B"/>
                </a:solidFill>
              </a:rPr>
              <a:t>M5</a:t>
            </a:r>
          </a:p>
          <a:p>
            <a:pPr algn="ctr">
              <a:spcBef>
                <a:spcPts val="1000"/>
              </a:spcBef>
            </a:pPr>
            <a:r>
              <a:rPr sz="1450" b="1">
                <a:solidFill>
                  <a:srgbClr val="FFFFFF"/>
                </a:solidFill>
              </a:rPr>
              <a:t>Quality &amp;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9591" y="2103120"/>
            <a:ext cx="1536192" cy="25603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28600"/>
          <a:lstStyle/>
          <a:p>
            <a:pPr algn="ctr"/>
            <a:r>
              <a:rPr sz="2400" b="1">
                <a:solidFill>
                  <a:srgbClr val="F59E0B"/>
                </a:solidFill>
              </a:rPr>
              <a:t>M6</a:t>
            </a:r>
          </a:p>
          <a:p>
            <a:pPr algn="ctr">
              <a:spcBef>
                <a:spcPts val="1000"/>
              </a:spcBef>
            </a:pPr>
            <a:r>
              <a:rPr sz="1450" b="1">
                <a:solidFill>
                  <a:srgbClr val="FFFFFF"/>
                </a:solidFill>
              </a:rPr>
              <a:t>Security &amp; CI/CD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65511" y="2103120"/>
            <a:ext cx="1536192" cy="2560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28600"/>
          <a:lstStyle/>
          <a:p>
            <a:pPr algn="ctr"/>
            <a:r>
              <a:rPr sz="2400" b="1">
                <a:solidFill>
                  <a:srgbClr val="F59E0B"/>
                </a:solidFill>
              </a:rPr>
              <a:t>M7</a:t>
            </a:r>
          </a:p>
          <a:p>
            <a:pPr algn="ctr">
              <a:spcBef>
                <a:spcPts val="1000"/>
              </a:spcBef>
            </a:pPr>
            <a:r>
              <a:rPr sz="1450" b="1">
                <a:solidFill>
                  <a:srgbClr val="FFFFFF"/>
                </a:solidFill>
              </a:rPr>
              <a:t>Final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4B5563"/>
                </a:solidFill>
                <a:latin typeface="Calibri"/>
              </a:rPr>
              <a:t>Each phase depends only on what's already been built — no forward 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CostQual-Router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B556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Papers, Books &amp;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20440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/>
          <a:lstStyle/>
          <a:p>
            <a:pPr algn="ctr"/>
            <a:r>
              <a:rPr sz="1600" b="1">
                <a:solidFill>
                  <a:srgbClr val="0B1F3A"/>
                </a:solidFill>
              </a:rPr>
              <a:t>LLM Routing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4B5563"/>
                </a:solidFill>
              </a:rPr>
              <a:t>FrugalGPT, RouteLLM — cost-aware model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00200"/>
            <a:ext cx="3520440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/>
          <a:lstStyle/>
          <a:p>
            <a:pPr algn="ctr"/>
            <a:r>
              <a:rPr sz="1600" b="1">
                <a:solidFill>
                  <a:srgbClr val="0B1F3A"/>
                </a:solidFill>
              </a:rPr>
              <a:t>Semantic Caching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4B5563"/>
                </a:solidFill>
              </a:rPr>
              <a:t>GPTCache &amp; related work on LLM response reuse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00200"/>
            <a:ext cx="3520440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/>
          <a:lstStyle/>
          <a:p>
            <a:pPr algn="ctr"/>
            <a:r>
              <a:rPr sz="1600" b="1">
                <a:solidFill>
                  <a:srgbClr val="0B1F3A"/>
                </a:solidFill>
              </a:rPr>
              <a:t>Vector Search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4B5563"/>
                </a:solidFill>
              </a:rPr>
              <a:t>HNSW (Malkov &amp; Yashunin) — ANN indexing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3520440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/>
          <a:lstStyle/>
          <a:p>
            <a:pPr algn="ctr"/>
            <a:r>
              <a:rPr sz="1600" b="1">
                <a:solidFill>
                  <a:srgbClr val="0B1F3A"/>
                </a:solidFill>
              </a:rPr>
              <a:t>Sentence Embeddings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4B5563"/>
                </a:solidFill>
              </a:rPr>
              <a:t>Sentence-BERT (Reimers &amp; Gurevych)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337560"/>
            <a:ext cx="3520440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/>
          <a:lstStyle/>
          <a:p>
            <a:pPr algn="ctr"/>
            <a:r>
              <a:rPr sz="1600" b="1">
                <a:solidFill>
                  <a:srgbClr val="0B1F3A"/>
                </a:solidFill>
              </a:rPr>
              <a:t>Quality Evaluation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4B5563"/>
                </a:solidFill>
              </a:rPr>
              <a:t>BERTScore (Zhang et al.)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337560"/>
            <a:ext cx="3520440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/>
          <a:lstStyle/>
          <a:p>
            <a:pPr algn="ctr"/>
            <a:r>
              <a:rPr sz="1600" b="1">
                <a:solidFill>
                  <a:srgbClr val="0B1F3A"/>
                </a:solidFill>
              </a:rPr>
              <a:t>Efficient AI Serving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4B5563"/>
                </a:solidFill>
              </a:rPr>
              <a:t>Literature on cost-efficient, sustainable LLM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CostQual-Router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B556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B8A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Oval 4"/>
          <p:cNvSpPr/>
          <p:nvPr/>
        </p:nvSpPr>
        <p:spPr>
          <a:xfrm>
            <a:off x="5367528" y="4023360"/>
            <a:ext cx="1463040" cy="14630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0" b="1">
                <a:solidFill>
                  <a:srgbClr val="FFFFFF"/>
                </a:solidFill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